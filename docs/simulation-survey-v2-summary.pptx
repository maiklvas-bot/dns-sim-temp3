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C5B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SIMCENTER · СИМУЛЯЦИЯ «КОСМОНАВТ»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— сводка результатов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управляющие оценивают готовность начинающих руководителей: находки, паттерны и что это значит для мерила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ответов · 28 июля 2026 · критическая масса достигнута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этот опрос и что мы искали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D8D2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83664"/>
            <a:ext cx="82296" cy="777240"/>
          </a:xfrm>
          <a:prstGeom prst="rect">
            <a:avLst/>
          </a:prstGeom>
          <a:solidFill>
            <a:srgbClr val="EC5B2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9476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 выпуском курса «Космонавтика» и моментом, когда человек выдаёт хорошие практические решения на подразделении.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62656"/>
            <a:ext cx="82296" cy="777240"/>
          </a:xfrm>
          <a:prstGeom prst="rect">
            <a:avLst/>
          </a:prstGeom>
          <a:solidFill>
            <a:srgbClr val="EC5B2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0779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прошлой версии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4760" y="2907792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Управляющие не доверяли симуляции — «не уверены, что веса настроены правильно».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82296" cy="777240"/>
          </a:xfrm>
          <a:prstGeom prst="rect">
            <a:avLst/>
          </a:prstGeom>
          <a:solidFill>
            <a:srgbClr val="EC5B2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86784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опроса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3986784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придумать критерии, а вывести веса и поведенческие якоря из суждений самих управляющих.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82296" cy="777240"/>
          </a:xfrm>
          <a:prstGeom prst="rect">
            <a:avLst/>
          </a:prstGeom>
          <a:solidFill>
            <a:srgbClr val="EC5B2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65776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→ v2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5065776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версия дала рыхлую обратную связь и не собрала веса. v2 — 21 вопрос, структура + якоря + веса.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и качество ответов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D8D2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ответов всего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9202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93592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 оценивали новичков за 12 мес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2784" y="19202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2784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34–36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55664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непустых ответов на каждый открытый вопрос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34856" y="19202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34856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насыщение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317736" y="29718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темы повторяются десятки раз — новых типов поведения новые ответы почти не добавляют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критическая масса набрана с запасом (нужно было ≥8, набрали 36 — в 4+ раза больше планки).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КОЛИЧЕСТВЕННО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Веса блоков компетенций (100 баллов)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D8D2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Умения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7315200" cy="384048"/>
          </a:xfrm>
          <a:prstGeom prst="roundRect">
            <a:avLst>
              <a:gd name="adj" fmla="val 11905"/>
            </a:avLst>
          </a:prstGeom>
          <a:solidFill>
            <a:srgbClr val="EFEBE0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2011680"/>
            <a:ext cx="6502400" cy="384048"/>
          </a:xfrm>
          <a:prstGeom prst="roundRect">
            <a:avLst>
              <a:gd name="adj" fmla="val 11905"/>
            </a:avLst>
          </a:prstGeom>
          <a:solidFill>
            <a:srgbClr val="EC5B24"/>
          </a:solidFill>
          <a:ln/>
        </p:spPr>
      </p:sp>
      <p:sp>
        <p:nvSpPr>
          <p:cNvPr id="8" name="Text 6"/>
          <p:cNvSpPr/>
          <p:nvPr/>
        </p:nvSpPr>
        <p:spPr>
          <a:xfrm>
            <a:off x="10114280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медиана 40  ·  среднее 37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Личностные качества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2788920"/>
            <a:ext cx="7315200" cy="384048"/>
          </a:xfrm>
          <a:prstGeom prst="roundRect">
            <a:avLst>
              <a:gd name="adj" fmla="val 11905"/>
            </a:avLst>
          </a:prstGeom>
          <a:solidFill>
            <a:srgbClr val="EFEBE0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2788920"/>
            <a:ext cx="4876800" cy="384048"/>
          </a:xfrm>
          <a:prstGeom prst="roundRect">
            <a:avLst>
              <a:gd name="adj" fmla="val 11905"/>
            </a:avLst>
          </a:prstGeom>
          <a:solidFill>
            <a:srgbClr val="1E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848868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медиана 30  ·  среднее 33.7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3566160"/>
            <a:ext cx="7315200" cy="384048"/>
          </a:xfrm>
          <a:prstGeom prst="roundRect">
            <a:avLst>
              <a:gd name="adj" fmla="val 11905"/>
            </a:avLst>
          </a:prstGeom>
          <a:solidFill>
            <a:srgbClr val="EFEBE0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3566160"/>
            <a:ext cx="4876800" cy="384048"/>
          </a:xfrm>
          <a:prstGeom prst="roundRect">
            <a:avLst>
              <a:gd name="adj" fmla="val 11905"/>
            </a:avLst>
          </a:prstGeom>
          <a:solidFill>
            <a:srgbClr val="1E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8488680" y="3520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медиана 30  ·  среднее 31.8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перевешивает при спорной оценке: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21× </a:t>
            </a:r>
            <a:pPr indent="0" marL="0">
              <a:buNone/>
            </a:pPr>
            <a:r>
              <a:rPr lang="en-US" sz="14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«умение применять на практике»   </a:t>
            </a:r>
            <a:pPr indent="0" marL="0">
              <a:buNone/>
            </a:pPr>
            <a:r>
              <a:rPr lang="en-US" sz="1400" b="1" dirty="0">
                <a:solidFill>
                  <a:srgbClr val="1E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15× </a:t>
            </a:r>
            <a:pPr indent="0" marL="0">
              <a:buNone/>
            </a:pPr>
            <a:r>
              <a:rPr lang="en-US" sz="14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«ответственность и мотивация»   </a:t>
            </a:r>
            <a:pPr indent="0" marL="0">
              <a:buNone/>
            </a:pPr>
            <a:r>
              <a:rPr lang="en-US" sz="1400" b="1" dirty="0">
                <a:solidFill>
                  <a:srgbClr val="BE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0× </a:t>
            </a:r>
            <a:pPr indent="0" marL="0">
              <a:buNone/>
            </a:pPr>
            <a:r>
              <a:rPr lang="en-US" sz="14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«объём знаний»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КОЛИЧЕСТВЕННО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Приоритетные компетенции и стоп-факторы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D8D2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Топ-5 «важных» (из 14, множественный выбор)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937760" cy="310896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86000"/>
            <a:ext cx="4937760" cy="310896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2768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Направленность на результат  ·  30/36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4937760" cy="310896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743200"/>
            <a:ext cx="4114800" cy="310896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7340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Организация и контроль работы  ·  25/36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4937760" cy="310896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200400"/>
            <a:ext cx="3785616" cy="310896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1912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Бизнес-процессы  ·  23/36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4937760" cy="310896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657600"/>
            <a:ext cx="3621024" cy="310896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6484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Системность мышления  ·  22/36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4937760" cy="310896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114800"/>
            <a:ext cx="2139696" cy="310896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41056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Коммуникабельность  ·  13/36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стоп-факторов («без чего нельзя ставить на роль»)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286000"/>
            <a:ext cx="4937760" cy="310896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2286000"/>
            <a:ext cx="4937760" cy="310896"/>
          </a:xfrm>
          <a:prstGeom prst="rect">
            <a:avLst/>
          </a:prstGeom>
          <a:solidFill>
            <a:srgbClr val="BE3A2B"/>
          </a:solidFill>
          <a:ln/>
        </p:spPr>
      </p:sp>
      <p:sp>
        <p:nvSpPr>
          <p:cNvPr id="24" name="Text 22"/>
          <p:cNvSpPr/>
          <p:nvPr/>
        </p:nvSpPr>
        <p:spPr>
          <a:xfrm>
            <a:off x="6419088" y="22768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Направленность на результат  ·  19/36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2743200"/>
            <a:ext cx="4937760" cy="310896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2743200"/>
            <a:ext cx="4677878" cy="310896"/>
          </a:xfrm>
          <a:prstGeom prst="rect">
            <a:avLst/>
          </a:prstGeom>
          <a:solidFill>
            <a:srgbClr val="BE3A2B"/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27340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Организация и контроль работы  ·  18/36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3200400"/>
            <a:ext cx="4937760" cy="310896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3200400"/>
            <a:ext cx="4158114" cy="310896"/>
          </a:xfrm>
          <a:prstGeom prst="rect">
            <a:avLst/>
          </a:prstGeom>
          <a:solidFill>
            <a:srgbClr val="BE3A2B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088" y="31912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Системность мышления  ·  16/36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3657600"/>
            <a:ext cx="4937760" cy="310896"/>
          </a:xfrm>
          <a:prstGeom prst="rect">
            <a:avLst/>
          </a:prstGeom>
          <a:solidFill>
            <a:srgbClr val="EFEBE0"/>
          </a:solidFill>
          <a:ln/>
        </p:spPr>
      </p:sp>
      <p:sp>
        <p:nvSpPr>
          <p:cNvPr id="32" name="Shape 30"/>
          <p:cNvSpPr/>
          <p:nvPr/>
        </p:nvSpPr>
        <p:spPr>
          <a:xfrm>
            <a:off x="6309360" y="3657600"/>
            <a:ext cx="3118585" cy="310896"/>
          </a:xfrm>
          <a:prstGeom prst="rect">
            <a:avLst/>
          </a:prstGeom>
          <a:solidFill>
            <a:srgbClr val="BE3A2B"/>
          </a:solidFill>
          <a:ln/>
        </p:spPr>
      </p:sp>
      <p:sp>
        <p:nvSpPr>
          <p:cNvPr id="33" name="Text 31"/>
          <p:cNvSpPr/>
          <p:nvPr/>
        </p:nvSpPr>
        <p:spPr>
          <a:xfrm>
            <a:off x="6419088" y="36484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Бизнес-процессы  ·  12/36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Внизу приоритетов (мало данных): Задачи сотрудников магазина (1), Объективная самооценка (1), Финпоказатели (7), Идеология (8).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Реакция на риск: 20× «укажу на риск и подстрахую» · 16× «разберу и поддержу» · 0× «жёстко пресеку» — управляющие наставнического типа.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КАЧЕСТВЕННО · ЯКОРЯ BARS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Инициатива и самостоятельность — доминирующая тема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D8D2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E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36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C9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2148840"/>
            <a:ext cx="5394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E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3172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Боится решать сам, не пытается решить проблему самостоятельно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Замалчивает проблему — «потом говорит, что забыл сказать»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Ждёт прямого поручения, не действует до сигнала руководителя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Дёргает по мелким вопросам, на которые сам знает ответ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Видит проблему → определяет приоритет → решает в рамках полномочий → информирует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Берёт ответственность, не дожидаясь указания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Знает, когда решить самому, а когда эскалировать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«Сотрудник самостоятельно взял координацию смены… от меня не потребовалось напоминать»
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КАЧЕСТВЕННО · ЯКОРЯ BARS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 и конфликты с клиентами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D8D2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E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36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C9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2148840"/>
            <a:ext cx="5394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E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3172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Отвечает агрессией на агрессию, вступает в спор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«Стоит на своём», не выясняет причину недовольства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Избегает конфликта, перекладывает на другого ЗУМ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Не знает ЗоЗПП — не может решить на месте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Сначала слушает, потом говорит — признаёт эмоции клиента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Аргументирует законом и регламентом, снижает накал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Ищет решение в рамках полномочий, эскалирует по необходимости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«Не спорит в ответ, держит рамки, не боится признать ошибку»
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КАЧЕСТВЕННО · ЯКОРЯ BARS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 и делегирование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D8D2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E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36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C9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2148840"/>
            <a:ext cx="5394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E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3172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Делает сам вместо постановки задачи сотруднику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Задача не по SMART: без сроков, без образа результата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«Западает промежуточный контроль» — самая частая жалоба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«Кидает в океан и говорит учись плавать»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Ставит по SMART: срок, ответственный, ожидаемый результат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Проверяет понимание — «спрашивает, как понял задачу»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Назначает точки промежуточного контроля и возвращается к ним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Контролирует выполнение, не выпуская задачу из внимания
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КАЧЕСТВЕННО · ЯКОРЯ BARS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 дня и приоритетов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D8D2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E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36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C9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2148840"/>
            <a:ext cx="5394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E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3172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«Плывёт по течению» — задачи выполняются по мере поступления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Не отделяет срочное от важного, хватается за всё сразу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Тонет в документах вместо работы с залом и людьми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Забывает договорённости, не ведёт списки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Приоритизирует срочное и важное, закладывает риски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Работа продолжается даже в отсутствие ЗУМ/УМ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«Не тушит пожары» — заранее просчитывает и взвешивает риски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Остаётся резерв времени на непредвиденные задачи
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КАЧЕСТВЕННО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и измеримые результаты сильных примеров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D8D2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E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СЛАБЫЙ КОНТРОЛЬ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94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C9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4983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Считает задачу выполненной, как только передал сотруднику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Реагирует только после того, как об ошибке уже написали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Устраняет ошибку, а не чинит процесс, который её породил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Нет системных контрольных точек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ИЗМЕРИМЫЕ СИЛЬНЫЕ ПРИМЕРЫ (дыра v1 закрыта)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394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E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331720"/>
            <a:ext cx="4983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ГУС: 0,8% → 1,6%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Скорость набора ИМ: 30 → 15 минут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Потери по инвентаризации: 40–50 т.р. → 5–10 т.р. за 3 мес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Перестройка витрины → продажи +40%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ИО УМ 14 дней без нареканий
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«Роняет доверие» (открытый вопрос) почти целиком сводится к: отсутствие инициативы, нежелание брать ответственность, сокрытие проблем и вранье, нежелание развиваться.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СИНТЕЗ · НАХОДКА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стержень вместо 14 разрозненных пунктов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3E4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каждая категория провала сводится к одному и тому же сдвигу.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Делегирование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25146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«делает сам вместо постановки задачи»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815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308152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«считает задачу выполненной, как только передал»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64845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364845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«планирует как исполнитель, тонет в документах вместо зала»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2153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Конфликты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421538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«мышление как у продавца», нет клиентоориентированности руководителя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919472"/>
            <a:ext cx="10515600" cy="0"/>
          </a:xfrm>
          <a:prstGeom prst="line">
            <a:avLst/>
          </a:prstGeom>
          <a:noFill/>
          <a:ln w="12700">
            <a:solidFill>
              <a:srgbClr val="3E4A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0235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разрыв — не набор мини-тестов по компетенциям, а один сдвиг идентичности: «я делаю» → «я обеспечиваю, чтобы сделали».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СИНТЕЗ · НАХОДКА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Автономность — это не «сделал сам». Это точный выбор ресурса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3E4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" cy="685800"/>
          </a:xfrm>
          <a:prstGeom prst="rect">
            <a:avLst/>
          </a:prstGeom>
          <a:solidFill>
            <a:srgbClr val="EC5B24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87452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CE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«Спокойно выслушивает клиента, уточняет факты, предлагает решение в рамках своих полномочий и сразу подключает руководителя, если решение требует согласования»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54864" cy="685800"/>
          </a:xfrm>
          <a:prstGeom prst="rect">
            <a:avLst/>
          </a:prstGeom>
          <a:solidFill>
            <a:srgbClr val="EC5B2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83464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CE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«Или знает, о чём говорит (не по ощущениям, а по закону) — или обращается за помощью»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54864" cy="685800"/>
          </a:xfrm>
          <a:prstGeom prst="rect">
            <a:avLst/>
          </a:prstGeom>
          <a:solidFill>
            <a:srgbClr val="EC5B24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79476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CE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«Успокоила клиента, достала заказ… создала инцидент в IT»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Слабость — это промах мимо нужного ресурса в ЛЮБУЮ сторону: и беспомощный запрос по мелочи, и самоуправство без эскалации.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4406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Управленец — не тот, кто максимально самостоятелен, а тот, кто распределяет ресурсы: себя, команду, эскалацию, процесс.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ПРОХОДИТ ОЦЕНКА · СОГЛАСОВАННАЯ МОДЕЛЬ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Мерило: два источника, два уровня компенсации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D8D2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Веса — блендинг двух сигналов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80360" y="21945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заявленные баллы блоков (Умения 40 / Личностные 30 / Знания 30)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Модификатор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761488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качественные сигналы (живые случаи, «кого повысил бы», 0% за голые знания) уточняют приоритеты внутри блоков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Компенсация — две разные механики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МОМЕНТЕ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Уместный выбор ресурса в конкретной ситуации кейса: сам / эскалация / процесс. Эскалация при нехватке знаний — это сила, а не слабость.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93192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ДИСТАНЦИИ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43891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Итоговый профиль по всей симуляции: слабость в одной компетенции не топит результат, если её закрывают другие сильные стороны.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ЧЕСТНЫЕ ОГРАНИЧЕНИЯ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осталось непокрытым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D8D2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9384"/>
            <a:ext cx="82296" cy="777240"/>
          </a:xfrm>
          <a:prstGeom prst="rect">
            <a:avLst/>
          </a:prstGeom>
          <a:solidFill>
            <a:srgbClr val="BE3A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Слабый материал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94760" y="18745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Финансовые показатели (7/36), Идеология компании (8/36), Задачи сотрудников магазина (1/36) — внизу приоритетов, якорей почти нет.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35224"/>
            <a:ext cx="82296" cy="777240"/>
          </a:xfrm>
          <a:prstGeom prst="rect">
            <a:avLst/>
          </a:prstGeom>
          <a:solidFill>
            <a:srgbClr val="BE3A2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Грубость весов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28803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MCP-форма не поддерживает сетки 1–5 — веса собраны крупно (блоки + приоритеты), без оценки важности каждой компетенции.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41064"/>
            <a:ext cx="82296" cy="777240"/>
          </a:xfrm>
          <a:prstGeom prst="rect">
            <a:avLst/>
          </a:prstGeom>
          <a:solidFill>
            <a:srgbClr val="BE3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862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Малосодержательные ответы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3886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ответов вида «Всё норм» / «Данных нет»; один респондент не понял формулировку сравнения.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946904"/>
            <a:ext cx="82296" cy="777240"/>
          </a:xfrm>
          <a:prstGeom prst="rect">
            <a:avLst/>
          </a:prstGeom>
          <a:solidFill>
            <a:srgbClr val="BE3A2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8920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день сбора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4892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36 ответов — 28 июля; нет данных о стабильности мнений во времени.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5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 — документ «Мерило v1»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0"/>
          </a:xfrm>
          <a:prstGeom prst="line">
            <a:avLst/>
          </a:prstGeom>
          <a:noFill/>
          <a:ln w="12700">
            <a:solidFill>
              <a:srgbClr val="3E4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30552"/>
            <a:ext cx="365760" cy="365760"/>
          </a:xfrm>
          <a:prstGeom prst="ellipse">
            <a:avLst/>
          </a:prstGeom>
          <a:solidFill>
            <a:srgbClr val="EC5B2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Веса компетенций (блендинг чисел и качественных сигналов)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365760" cy="365760"/>
          </a:xfrm>
          <a:prstGeom prst="ellipse">
            <a:avLst/>
          </a:prstGeom>
          <a:solidFill>
            <a:srgbClr val="EC5B2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7614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Стоп-факторы с порогом срабатывания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447288"/>
            <a:ext cx="365760" cy="365760"/>
          </a:xfrm>
          <a:prstGeom prst="ellipse">
            <a:avLst/>
          </a:prstGeom>
          <a:solidFill>
            <a:srgbClr val="EC5B2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4198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Якоря BARS (слабо / средне / сильно) по компетенциям с материалом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105656"/>
            <a:ext cx="365760" cy="365760"/>
          </a:xfrm>
          <a:prstGeom prst="ellipse">
            <a:avLst/>
          </a:prstGeom>
          <a:solidFill>
            <a:srgbClr val="EC5B2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05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0782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обеих механик компенсации — в моменте и на дистанции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кейсов — только после утверждения этого документа.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УМ v2 · оценка готовности начинающих руководителей · n=36 · 2026-07-28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2026-07-29T06:10:06Z</dcterms:created>
  <dcterms:modified xsi:type="dcterms:W3CDTF">2026-07-29T06:10:06Z</dcterms:modified>
</cp:coreProperties>
</file>